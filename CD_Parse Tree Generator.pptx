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5284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016"/>
            <a:ext cx="2286000" cy="74980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-214604" y="74393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Abstract Submission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-214605" y="1240178"/>
            <a:ext cx="121916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Interactive Context-Free Grammar Analyzer for Parse Tree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Generation, Ambiguity Detection, and Grammar Transformation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-559836" y="2714065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A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4839601"/>
              </p:ext>
            </p:extLst>
          </p:nvPr>
        </p:nvGraphicFramePr>
        <p:xfrm>
          <a:off x="3401568" y="3178867"/>
          <a:ext cx="3840480" cy="9550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Bindu Potukuchi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" marR="127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2420090092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" marR="127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Sarvani Topella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" marR="127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2420030367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" marR="127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Tanvi Bandaru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" marR="127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2420030507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" marR="127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Varshitha Ravuri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" marR="127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2420030536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" marR="127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-457200" y="440740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A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-457200" y="4754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Krishna Kishore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-335902" y="503909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Compiler Design  |  A.Y. 2026 – 2027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-214604" y="537005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8708" y="1036969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896112" y="2191165"/>
            <a:ext cx="9966960" cy="3753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Context-free grammars (CFGs) form the theoretical backbone of compiler design and language processing.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frequently struggle to see how a grammar generates parse trees — and, more importantly, why a grammar may be ambiguous.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classroom tools typically produce a single static parse tree for a given input, with no insight into ambiguity, its cause, or how the grammar could be rewritten to remove it.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gap forces students to reason about grammar transformations — left factoring, left-recursion elimination, precedence assignment — purely on paper, with no interactive feedback.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3856" y="1044095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890327" y="2234812"/>
            <a:ext cx="9966960" cy="3856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8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analyzer: </a:t>
            </a:r>
            <a:r>
              <a:rPr lang="en-US" sz="18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user inputs a CFG and a test string; the system validates the grammar's structure and generates the corresponding parse tree.</a:t>
            </a:r>
            <a:endParaRPr lang="en-US" sz="18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8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input string admits more than one valid derivation, the analyzer generates and displays all possible parse trees and flags the grammar as ambiguous.</a:t>
            </a:r>
            <a:endParaRPr lang="en-US" sz="18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8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derivation is classified — leftmost, rightmost, parse tree, or abstract syntax tree, where applicable.</a:t>
            </a:r>
            <a:endParaRPr lang="en-US" sz="18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8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the ambiguity </a:t>
            </a:r>
            <a:r>
              <a:rPr lang="en-US" sz="18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highlighting where the derivations diverge, and suggests concrete fixes: left factoring, left-recursion elimination, or precedence/associativity rules.</a:t>
            </a:r>
            <a:endParaRPr lang="en-US" sz="18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8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before-and-after comparison re-parses the input against the transformed grammar to visually confirm the ambiguity has been removed.</a:t>
            </a:r>
            <a:endParaRPr lang="en-US" sz="1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3102" y="1200254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of Existing Tools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93102" y="2621902"/>
            <a:ext cx="10038992" cy="3067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only a single, static parse tree per input — no handling of ambiguous grammars.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no explanation of why a grammar is ambiguous or where the derivations diverge.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no guidance on how an ambiguous grammar could be rewritten.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grammar transformations — left factoring, left-recursion elimination, precedence assignment — as pen-and-paper exercises, with no interactive feedback.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2520" y="974984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System — Objectives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1112520" y="2217887"/>
            <a:ext cx="9966960" cy="3856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7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 user-defined context-free grammar and a test string, and validate the grammar's structure.</a:t>
            </a:r>
            <a:endParaRPr lang="en-US" sz="17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7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corresponding parse tree(s) for the input string.</a:t>
            </a:r>
            <a:endParaRPr lang="en-US" sz="17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7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ambiguity by finding and displaying all valid derivations, classified as leftmost, rightmost, parse tree, or AST.</a:t>
            </a:r>
            <a:endParaRPr lang="en-US" sz="17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7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source of ambiguity by highlighting exactly where the derivations diverge.</a:t>
            </a:r>
            <a:endParaRPr lang="en-US" sz="17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7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concrete transformations — left factoring, left-recursion elimination, or precedence/associativity rules.</a:t>
            </a:r>
            <a:endParaRPr lang="en-US" sz="17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7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Re-parse the input against the revised grammar to visually confirm the ambiguity is resolved.</a:t>
            </a:r>
            <a:endParaRPr lang="en-US" sz="175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7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 extensible toward LL/LR parse table construction and code generation.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09500" y="801929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BE871B-E4DE-4637-3773-9D44E536EE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80" y="1779398"/>
            <a:ext cx="11758697" cy="431349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F65E672-1EC5-55EA-FC06-07BD2926225D}"/>
              </a:ext>
            </a:extLst>
          </p:cNvPr>
          <p:cNvSpPr/>
          <p:nvPr/>
        </p:nvSpPr>
        <p:spPr>
          <a:xfrm>
            <a:off x="298580" y="5686490"/>
            <a:ext cx="1511559" cy="27058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2F4388-ABD8-9665-92C5-8A67D6FA170B}"/>
              </a:ext>
            </a:extLst>
          </p:cNvPr>
          <p:cNvSpPr/>
          <p:nvPr/>
        </p:nvSpPr>
        <p:spPr>
          <a:xfrm>
            <a:off x="3677920" y="2193873"/>
            <a:ext cx="4602480" cy="34523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2376" y="-118872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Example — Ambiguous Grammar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22376" y="9601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Grammar:  </a:t>
            </a:r>
            <a:r>
              <a:rPr lang="en-US" sz="18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→ E + E | E * E | id</a:t>
            </a:r>
            <a:endParaRPr lang="en-US" sz="18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string:  </a:t>
            </a:r>
            <a:r>
              <a:rPr lang="en-US" sz="18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+ id * id</a:t>
            </a:r>
            <a:endParaRPr lang="en-US" sz="1800" dirty="0"/>
          </a:p>
        </p:txBody>
      </p:sp>
      <p:pic>
        <p:nvPicPr>
          <p:cNvPr id="5" name="Image 1" descr="/home/claude/assets/tre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783080"/>
            <a:ext cx="3566160" cy="3337560"/>
          </a:xfrm>
          <a:prstGeom prst="rect">
            <a:avLst/>
          </a:prstGeom>
        </p:spPr>
      </p:pic>
      <p:pic>
        <p:nvPicPr>
          <p:cNvPr id="6" name="Image 2" descr="/home/claude/assets/tre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783080"/>
            <a:ext cx="3566160" cy="3337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88720" y="5166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1: (id + id) * id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6583680" y="5166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2: id + (id * id)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92963" y="702222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Ambiguity Analysis &amp; Suggested Fix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921865" y="2119579"/>
            <a:ext cx="9966960" cy="1691640"/>
          </a:xfrm>
          <a:prstGeom prst="roundRect">
            <a:avLst>
              <a:gd name="adj" fmla="val 4324"/>
            </a:avLst>
          </a:prstGeom>
          <a:solidFill>
            <a:srgbClr val="FDECEA"/>
          </a:solidFill>
          <a:ln w="12700">
            <a:solidFill>
              <a:srgbClr val="C127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1117807" y="2119579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Ambiguous Grammar</a:t>
            </a:r>
            <a:endParaRPr lang="en-US" sz="1800" dirty="0"/>
          </a:p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string has multiple valid parse trees.</a:t>
            </a:r>
            <a:endParaRPr lang="en-US" sz="1800" dirty="0"/>
          </a:p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Reason: </a:t>
            </a: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grammar does not specify precedence between '+' and '*'.</a:t>
            </a:r>
            <a:endParaRPr lang="en-US" sz="1800" dirty="0"/>
          </a:p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solution: </a:t>
            </a: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'*' with higher precedence than '+'.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21865" y="4028025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Revised Grammar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21865" y="475488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→ E + T | T</a:t>
            </a:r>
            <a:endParaRPr lang="en-US" sz="2000" dirty="0"/>
          </a:p>
          <a:p>
            <a:pPr marL="0" indent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→ T * F | F</a:t>
            </a:r>
            <a:endParaRPr lang="en-US" sz="2000" dirty="0"/>
          </a:p>
          <a:p>
            <a:pPr marL="0" indent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→ id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83609" y="67143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Resolved Parse Tree</a:t>
            </a:r>
            <a:endParaRPr lang="en-US" sz="3200" dirty="0"/>
          </a:p>
        </p:txBody>
      </p:sp>
      <p:pic>
        <p:nvPicPr>
          <p:cNvPr id="4" name="Image 1" descr="/home/claude/assets/tree_revis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409" y="2218820"/>
            <a:ext cx="32004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kl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160020"/>
            <a:ext cx="1901952" cy="6236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74302" y="969637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Scope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908988" y="2508535"/>
            <a:ext cx="9966960" cy="291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Grammar Analyzer turns an abstract compiler-design exercise into an interactive, visual experience.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validates CFGs, generates parse trees, detects ambiguity, and explains its underlying cause.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suggests concrete grammar transformations and verifies them by re-parsing the revised grammar.</a:t>
            </a:r>
            <a:endParaRPr lang="en-US" sz="2000" dirty="0"/>
          </a:p>
          <a:p>
            <a:pPr marL="254000" indent="-254000" algn="l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scope: </a:t>
            </a:r>
            <a:r>
              <a:rPr lang="en-US" sz="2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analyzer to LL/LR parse table construction and code generation.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650</Words>
  <Application>Microsoft Office PowerPoint</Application>
  <PresentationFormat>Widescreen</PresentationFormat>
  <Paragraphs>71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Tanvi Bandaru</cp:lastModifiedBy>
  <cp:revision>2</cp:revision>
  <dcterms:created xsi:type="dcterms:W3CDTF">2026-09-18T08:42:07Z</dcterms:created>
  <dcterms:modified xsi:type="dcterms:W3CDTF">2026-09-19T05:58:18Z</dcterms:modified>
</cp:coreProperties>
</file>